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0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7834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840480" cy="5143500"/>
          </a:xfrm>
          <a:prstGeom prst="roundRect">
            <a:avLst/>
          </a:prstGeom>
          <a:solidFill>
            <a:srgbClr val="0D1B2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48640"/>
            <a:ext cx="2560320" cy="2560320"/>
          </a:xfrm>
          <a:prstGeom prst="ellipse">
            <a:avLst/>
          </a:prstGeom>
          <a:solidFill>
            <a:srgbClr val="001A2E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91440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1188720" y="32461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32461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3703320"/>
            <a:ext cx="2194560" cy="320040"/>
          </a:xfrm>
          <a:prstGeom prst="roundRect">
            <a:avLst>
              <a:gd name="adj" fmla="val 48571"/>
            </a:avLst>
          </a:prstGeom>
          <a:solidFill>
            <a:srgbClr val="1A1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703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PROJECT REVIEW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206240" y="5943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HireCraft AI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4206240" y="1572768"/>
            <a:ext cx="109728" cy="109728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1572768"/>
            <a:ext cx="109728" cy="109728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14" name="Shape 12"/>
          <p:cNvSpPr/>
          <p:nvPr/>
        </p:nvSpPr>
        <p:spPr>
          <a:xfrm>
            <a:off x="4608576" y="1572768"/>
            <a:ext cx="109728" cy="109728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1755648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Career Preparation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Interview Assistant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114800" y="2633472"/>
            <a:ext cx="4663440" cy="402336"/>
          </a:xfrm>
          <a:prstGeom prst="roundRect">
            <a:avLst>
              <a:gd name="adj" fmla="val 27273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9392" y="26700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Student: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349240" y="2670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Suryakumar (Roll No:212224040340)</a:t>
            </a:r>
          </a:p>
          <a:p>
            <a:pPr marL="0" indent="0" algn="l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Janardhan P 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0" y="3145536"/>
            <a:ext cx="4663440" cy="402336"/>
          </a:xfrm>
          <a:prstGeom prst="roundRect">
            <a:avLst>
              <a:gd name="adj" fmla="val 27273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79392" y="318211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Department: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49240" y="318211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B.E. Computer Science Engineering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14800" y="3657600"/>
            <a:ext cx="4663440" cy="402336"/>
          </a:xfrm>
          <a:prstGeom prst="roundRect">
            <a:avLst>
              <a:gd name="adj" fmla="val 27273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79392" y="369417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349240" y="369417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Saveetha Engineering College, Chennai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14800" y="4169664"/>
            <a:ext cx="4663440" cy="402336"/>
          </a:xfrm>
          <a:prstGeom prst="roundRect">
            <a:avLst>
              <a:gd name="adj" fmla="val 27273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79392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Year: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349240" y="4206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– 2028  |  Batch: 2024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0" y="48006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and Engineering</a:t>
            </a:r>
            <a:endParaRPr lang="en-US" sz="85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F19C04D-A3A5-0877-DB96-FF4B08947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42" y="698684"/>
            <a:ext cx="2397391" cy="239739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5603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INTRODUCTION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Placement Preparation Matters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8988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unprepared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technical interviews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32588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38988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291840" y="2103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to pass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screening rounds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2588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38988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6126480" y="2103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 needed to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all prep areas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Challenges Faced by Students: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4160520" cy="530352"/>
          </a:xfrm>
          <a:prstGeom prst="roundRect">
            <a:avLst>
              <a:gd name="adj" fmla="val 20690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2461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78992" y="3300984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building — no clear standards or feedback loops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846320" y="3246120"/>
            <a:ext cx="4160520" cy="530352"/>
          </a:xfrm>
          <a:prstGeom prst="roundRect">
            <a:avLst>
              <a:gd name="adj" fmla="val 20690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56048" y="32461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💻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68112" y="3300984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practice — scattered across LeetCode, HackerRank, and more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904488"/>
            <a:ext cx="4160520" cy="530352"/>
          </a:xfrm>
          <a:prstGeom prst="roundRect">
            <a:avLst>
              <a:gd name="adj" fmla="val 20690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904488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🎤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8992" y="3959352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preparation — lack of realistic mock interview environments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46320" y="3904488"/>
            <a:ext cx="4160520" cy="530352"/>
          </a:xfrm>
          <a:prstGeom prst="roundRect">
            <a:avLst>
              <a:gd name="adj" fmla="val 20690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3904488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68112" y="3959352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roadmap — no personalized, adaptive guidance system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5603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PROBLEM STATEMENT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Problem Are We Solving?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4114800" cy="150876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36192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00D4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5361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34440" y="1536192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Personalized Guidance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1214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receive generic advice that doesn't account for their skill level, target company, or domain interest.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00600" y="1371600"/>
            <a:ext cx="4114800" cy="150876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83480" y="1536192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5361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77840" y="1536192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Screening Difficulty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21214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automated, intelligent feedback on resumes — students submit weak profiles without knowing what to improve.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4114800" cy="150876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227832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227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227832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Realistic Mock Interviews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8130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tools lack adaptive, AI-driven interview simulators that mirror actual company interview patterns.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00600" y="3063240"/>
            <a:ext cx="4114800" cy="150876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83480" y="3227832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4983480" y="3227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77840" y="3227832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Are Scattered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83480" y="38130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Aptitude, coding, resume, and interview prep exist on separate platforms — no unified, integrated system.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5603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EXISTING SYSTEM &amp; LIMITATIONS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Approaches &amp; Their Gaps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98448" y="1481328"/>
            <a:ext cx="914400" cy="9144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298448" y="148132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📚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66928" y="248716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Methods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" y="3026664"/>
            <a:ext cx="201168" cy="201168"/>
          </a:xfrm>
          <a:prstGeom prst="ellipse">
            <a:avLst/>
          </a:prstGeom>
          <a:solidFill>
            <a:srgbClr val="D73A4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3008376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77824" y="2999232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Textbooks &amp; college notes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" y="3419856"/>
            <a:ext cx="201168" cy="201168"/>
          </a:xfrm>
          <a:prstGeom prst="ellipse">
            <a:avLst/>
          </a:prstGeom>
          <a:solidFill>
            <a:srgbClr val="D73A49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401568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77824" y="3392424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mock interviews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" y="3813048"/>
            <a:ext cx="201168" cy="201168"/>
          </a:xfrm>
          <a:prstGeom prst="ellipse">
            <a:avLst/>
          </a:prstGeom>
          <a:solidFill>
            <a:srgbClr val="D73A49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794760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77824" y="3785616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center counseling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" y="4206240"/>
            <a:ext cx="201168" cy="201168"/>
          </a:xfrm>
          <a:prstGeom prst="ellipse">
            <a:avLst/>
          </a:prstGeom>
          <a:solidFill>
            <a:srgbClr val="D73A49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" y="418795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77824" y="417880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 feedback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91840" y="1353312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33088" y="1481328"/>
            <a:ext cx="914400" cy="914400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24" name="Text 22"/>
          <p:cNvSpPr/>
          <p:nvPr/>
        </p:nvSpPr>
        <p:spPr>
          <a:xfrm>
            <a:off x="4133088" y="148132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3401568" y="248716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Courses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456432" y="3026664"/>
            <a:ext cx="201168" cy="201168"/>
          </a:xfrm>
          <a:prstGeom prst="ellipse">
            <a:avLst/>
          </a:prstGeom>
          <a:solidFill>
            <a:srgbClr val="D73A49"/>
          </a:solidFill>
          <a:ln/>
        </p:spPr>
      </p:sp>
      <p:sp>
        <p:nvSpPr>
          <p:cNvPr id="27" name="Text 25"/>
          <p:cNvSpPr/>
          <p:nvPr/>
        </p:nvSpPr>
        <p:spPr>
          <a:xfrm>
            <a:off x="3456432" y="3008376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712464" y="2999232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Coursera, Udemy, NPTEL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56432" y="3419856"/>
            <a:ext cx="201168" cy="201168"/>
          </a:xfrm>
          <a:prstGeom prst="ellipse">
            <a:avLst/>
          </a:prstGeom>
          <a:solidFill>
            <a:srgbClr val="D73A49"/>
          </a:solidFill>
          <a:ln/>
        </p:spPr>
      </p:sp>
      <p:sp>
        <p:nvSpPr>
          <p:cNvPr id="30" name="Text 28"/>
          <p:cNvSpPr/>
          <p:nvPr/>
        </p:nvSpPr>
        <p:spPr>
          <a:xfrm>
            <a:off x="3456432" y="3401568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712464" y="3392424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Pre-recorded, non-interactive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56432" y="3813048"/>
            <a:ext cx="201168" cy="201168"/>
          </a:xfrm>
          <a:prstGeom prst="ellipse">
            <a:avLst/>
          </a:prstGeom>
          <a:solidFill>
            <a:srgbClr val="D73A49"/>
          </a:solidFill>
          <a:ln/>
        </p:spPr>
      </p:sp>
      <p:sp>
        <p:nvSpPr>
          <p:cNvPr id="33" name="Text 31"/>
          <p:cNvSpPr/>
          <p:nvPr/>
        </p:nvSpPr>
        <p:spPr>
          <a:xfrm>
            <a:off x="3456432" y="3794760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712464" y="3785616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company-specific prep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56432" y="4206240"/>
            <a:ext cx="201168" cy="201168"/>
          </a:xfrm>
          <a:prstGeom prst="ellipse">
            <a:avLst/>
          </a:prstGeom>
          <a:solidFill>
            <a:srgbClr val="D73A49"/>
          </a:solidFill>
          <a:ln/>
        </p:spPr>
      </p:sp>
      <p:sp>
        <p:nvSpPr>
          <p:cNvPr id="36" name="Text 34"/>
          <p:cNvSpPr/>
          <p:nvPr/>
        </p:nvSpPr>
        <p:spPr>
          <a:xfrm>
            <a:off x="3456432" y="418795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712464" y="417880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progress analytics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26480" y="1353312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67728" y="1481328"/>
            <a:ext cx="914400" cy="9144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0" name="Text 38"/>
          <p:cNvSpPr/>
          <p:nvPr/>
        </p:nvSpPr>
        <p:spPr>
          <a:xfrm>
            <a:off x="6967728" y="148132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⚙️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6236208" y="248716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Platforms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291072" y="3026664"/>
            <a:ext cx="201168" cy="201168"/>
          </a:xfrm>
          <a:prstGeom prst="ellipse">
            <a:avLst/>
          </a:prstGeom>
          <a:solidFill>
            <a:srgbClr val="D73A49"/>
          </a:solidFill>
          <a:ln/>
        </p:spPr>
      </p:sp>
      <p:sp>
        <p:nvSpPr>
          <p:cNvPr id="43" name="Text 41"/>
          <p:cNvSpPr/>
          <p:nvPr/>
        </p:nvSpPr>
        <p:spPr>
          <a:xfrm>
            <a:off x="6291072" y="3008376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547104" y="2999232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LeetCode, HackerRank, LinkedIn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291072" y="3419856"/>
            <a:ext cx="201168" cy="201168"/>
          </a:xfrm>
          <a:prstGeom prst="ellipse">
            <a:avLst/>
          </a:prstGeom>
          <a:solidFill>
            <a:srgbClr val="D73A49"/>
          </a:solidFill>
          <a:ln/>
        </p:spPr>
      </p:sp>
      <p:sp>
        <p:nvSpPr>
          <p:cNvPr id="46" name="Text 44"/>
          <p:cNvSpPr/>
          <p:nvPr/>
        </p:nvSpPr>
        <p:spPr>
          <a:xfrm>
            <a:off x="6291072" y="3401568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547104" y="3392424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— only one domain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291072" y="3813048"/>
            <a:ext cx="201168" cy="201168"/>
          </a:xfrm>
          <a:prstGeom prst="ellipse">
            <a:avLst/>
          </a:prstGeom>
          <a:solidFill>
            <a:srgbClr val="D73A49"/>
          </a:solidFill>
          <a:ln/>
        </p:spPr>
      </p:sp>
      <p:sp>
        <p:nvSpPr>
          <p:cNvPr id="49" name="Text 47"/>
          <p:cNvSpPr/>
          <p:nvPr/>
        </p:nvSpPr>
        <p:spPr>
          <a:xfrm>
            <a:off x="6291072" y="3794760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547104" y="3785616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interview simulation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291072" y="4206240"/>
            <a:ext cx="201168" cy="201168"/>
          </a:xfrm>
          <a:prstGeom prst="ellipse">
            <a:avLst/>
          </a:prstGeom>
          <a:solidFill>
            <a:srgbClr val="D73A49"/>
          </a:solidFill>
          <a:ln/>
        </p:spPr>
      </p:sp>
      <p:sp>
        <p:nvSpPr>
          <p:cNvPr id="52" name="Text 50"/>
          <p:cNvSpPr/>
          <p:nvPr/>
        </p:nvSpPr>
        <p:spPr>
          <a:xfrm>
            <a:off x="6291072" y="418795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547104" y="417880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resume intelligence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4645152"/>
            <a:ext cx="8229600" cy="347472"/>
          </a:xfrm>
          <a:prstGeom prst="roundRect">
            <a:avLst>
              <a:gd name="adj" fmla="val 31579"/>
            </a:avLst>
          </a:prstGeom>
          <a:solidFill>
            <a:srgbClr val="1A1A2E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94360" y="4663440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None of these offer a unified, intelligent, personalized solution — that's the gap HireCraft AI fills.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5603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PROPOSED SOLUTION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HireCraft AI – Platform Overview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0" y="1280160"/>
            <a:ext cx="1828800" cy="18288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0" y="12801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1143000"/>
            <a:ext cx="1874520" cy="150876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1280160"/>
            <a:ext cx="914400" cy="914400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280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" y="22402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Resume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858000" y="1143000"/>
            <a:ext cx="1874520" cy="150876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33488" y="1280160"/>
            <a:ext cx="914400" cy="9144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7333488" y="1280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🎤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949440" y="22402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Interview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1874520" cy="150876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063240"/>
            <a:ext cx="914400" cy="9144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063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57200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0" y="2926080"/>
            <a:ext cx="1874520" cy="150876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33488" y="3063240"/>
            <a:ext cx="914400" cy="9144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7333488" y="3063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49440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&amp; Aptitude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520440" y="3310128"/>
            <a:ext cx="2103120" cy="150876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0" y="3447288"/>
            <a:ext cx="914400" cy="914400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0" y="344728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611880" y="44074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240280" y="2057400"/>
            <a:ext cx="141732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657600" y="2194560"/>
            <a:ext cx="320040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2240280" y="3675888"/>
            <a:ext cx="141732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3657600" y="3200400"/>
            <a:ext cx="320040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dash"/>
          </a:ln>
        </p:spPr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1740D15-2C89-1869-13AA-B3CBCAC4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459" y="1307591"/>
            <a:ext cx="1783082" cy="178308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5603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OBJECTIVES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481328"/>
            <a:ext cx="475488" cy="402336"/>
          </a:xfrm>
          <a:prstGeom prst="roundRect">
            <a:avLst>
              <a:gd name="adj" fmla="val 18182"/>
            </a:avLst>
          </a:prstGeom>
          <a:solidFill>
            <a:srgbClr val="00D4FF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481328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70432" y="148132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personalized, adaptive placement preparation for every student based on their profile and goals.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194560"/>
            <a:ext cx="475488" cy="402336"/>
          </a:xfrm>
          <a:prstGeom prst="roundRect">
            <a:avLst>
              <a:gd name="adj" fmla="val 18182"/>
            </a:avLst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194560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70432" y="219456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and improve student resumes using AI-driven ATS scoring and actionable feedback.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816352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2907792"/>
            <a:ext cx="475488" cy="402336"/>
          </a:xfrm>
          <a:prstGeom prst="roundRect">
            <a:avLst>
              <a:gd name="adj" fmla="val 18182"/>
            </a:avLst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907792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70432" y="290779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real interview experiences with AI-generated role-specific question banks and instant evaluation.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529584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3621024"/>
            <a:ext cx="475488" cy="402336"/>
          </a:xfrm>
          <a:prstGeom prst="roundRect">
            <a:avLst>
              <a:gd name="adj" fmla="val 18182"/>
            </a:avLst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621024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70432" y="36210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individual student progress across modules and highlight weak areas requiring improvement.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242816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4334256"/>
            <a:ext cx="475488" cy="402336"/>
          </a:xfrm>
          <a:prstGeom prst="roundRect">
            <a:avLst>
              <a:gd name="adj" fmla="val 18182"/>
            </a:avLst>
          </a:prstGeom>
          <a:solidFill>
            <a:srgbClr val="F43F5E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4334256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70432" y="433425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targeted learning resources and improvement plans using AI-based insights.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5603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TECHNOLOGY STACK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48132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00D4FF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48132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21408" y="14813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651760" y="148132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· TypeScript · Tailwind CSS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75688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16712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16712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121408" y="21671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51760" y="216712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· Java 21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761488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85292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285292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121408" y="28529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651760" y="285292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MySQL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447288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353872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53872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LLM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121408" y="35387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651760" y="353872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· LLM-based Services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4133088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4224528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43F5E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" y="422452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Tools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121408" y="42245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🛠️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651760" y="422452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· Figma · VS Code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5603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SYSTEM WORKFLOW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Workflow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74320" y="1828800"/>
            <a:ext cx="164592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20240"/>
            <a:ext cx="914400" cy="9144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20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🎓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20040" y="287121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938528" y="2542032"/>
            <a:ext cx="9144" cy="0"/>
          </a:xfrm>
          <a:prstGeom prst="line">
            <a:avLst/>
          </a:prstGeom>
          <a:noFill/>
          <a:ln w="12700">
            <a:solidFill>
              <a:srgbClr val="00D4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1856232" y="2450592"/>
            <a:ext cx="137160" cy="201168"/>
          </a:xfrm>
          <a:prstGeom prst="triangle">
            <a:avLst/>
          </a:prstGeom>
          <a:solidFill>
            <a:srgbClr val="00D4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965960" y="1828800"/>
            <a:ext cx="164592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1720" y="1920240"/>
            <a:ext cx="914400" cy="914400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14" name="Text 12"/>
          <p:cNvSpPr/>
          <p:nvPr/>
        </p:nvSpPr>
        <p:spPr>
          <a:xfrm>
            <a:off x="2331720" y="1920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011680" y="287121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HireCraft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630168" y="2542032"/>
            <a:ext cx="9144" cy="0"/>
          </a:xfrm>
          <a:prstGeom prst="line">
            <a:avLst/>
          </a:prstGeom>
          <a:noFill/>
          <a:ln w="12700">
            <a:solidFill>
              <a:srgbClr val="00D4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3547872" y="2450592"/>
            <a:ext cx="137160" cy="201168"/>
          </a:xfrm>
          <a:prstGeom prst="triangle">
            <a:avLst/>
          </a:prstGeom>
          <a:solidFill>
            <a:srgbClr val="00D4FF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0" y="1828800"/>
            <a:ext cx="164592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3360" y="1920240"/>
            <a:ext cx="914400" cy="9144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4023360" y="1920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703320" y="287121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1808" y="2542032"/>
            <a:ext cx="9144" cy="0"/>
          </a:xfrm>
          <a:prstGeom prst="line">
            <a:avLst/>
          </a:prstGeom>
          <a:noFill/>
          <a:ln w="12700">
            <a:solidFill>
              <a:srgbClr val="00D4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5400000">
            <a:off x="5239512" y="2450592"/>
            <a:ext cx="137160" cy="201168"/>
          </a:xfrm>
          <a:prstGeom prst="triangle">
            <a:avLst/>
          </a:prstGeom>
          <a:solidFill>
            <a:srgbClr val="00D4FF"/>
          </a:solidFill>
          <a:ln/>
        </p:spPr>
      </p:sp>
      <p:sp>
        <p:nvSpPr>
          <p:cNvPr id="24" name="Shape 22"/>
          <p:cNvSpPr/>
          <p:nvPr/>
        </p:nvSpPr>
        <p:spPr>
          <a:xfrm>
            <a:off x="5349240" y="1828800"/>
            <a:ext cx="164592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15000" y="1920240"/>
            <a:ext cx="914400" cy="9144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5000" y="1920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394960" y="287121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&amp;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013448" y="2542032"/>
            <a:ext cx="9144" cy="0"/>
          </a:xfrm>
          <a:prstGeom prst="line">
            <a:avLst/>
          </a:prstGeom>
          <a:noFill/>
          <a:ln w="12700">
            <a:solidFill>
              <a:srgbClr val="00D4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6931152" y="2450592"/>
            <a:ext cx="137160" cy="201168"/>
          </a:xfrm>
          <a:prstGeom prst="triangle">
            <a:avLst/>
          </a:prstGeom>
          <a:solidFill>
            <a:srgbClr val="00D4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040880" y="1828800"/>
            <a:ext cx="164592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1920240"/>
            <a:ext cx="914400" cy="914400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32" name="Text 30"/>
          <p:cNvSpPr/>
          <p:nvPr/>
        </p:nvSpPr>
        <p:spPr>
          <a:xfrm>
            <a:off x="7406640" y="1920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86600" y="287121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3401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Module Breakdown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3749040"/>
            <a:ext cx="2697480" cy="384048"/>
          </a:xfrm>
          <a:prstGeom prst="roundRect">
            <a:avLst>
              <a:gd name="adj" fmla="val 28571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377647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Resume Analyzer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337560" y="3749040"/>
            <a:ext cx="2697480" cy="384048"/>
          </a:xfrm>
          <a:prstGeom prst="roundRect">
            <a:avLst>
              <a:gd name="adj" fmla="val 28571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0" y="377647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Mock Interview Simulator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17920" y="3749040"/>
            <a:ext cx="2697480" cy="384048"/>
          </a:xfrm>
          <a:prstGeom prst="roundRect">
            <a:avLst>
              <a:gd name="adj" fmla="val 28571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55080" y="377647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Aptitude Engine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57200" y="4251960"/>
            <a:ext cx="2697480" cy="384048"/>
          </a:xfrm>
          <a:prstGeom prst="roundRect">
            <a:avLst>
              <a:gd name="adj" fmla="val 28571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427939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Coding Evaluator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37560" y="4251960"/>
            <a:ext cx="2697480" cy="384048"/>
          </a:xfrm>
          <a:prstGeom prst="roundRect">
            <a:avLst>
              <a:gd name="adj" fmla="val 28571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74720" y="427939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Progress Tracker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17920" y="4251960"/>
            <a:ext cx="2697480" cy="384048"/>
          </a:xfrm>
          <a:prstGeom prst="roundRect">
            <a:avLst>
              <a:gd name="adj" fmla="val 28571"/>
            </a:avLst>
          </a:prstGeom>
          <a:solidFill>
            <a:srgbClr val="1C2333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55080" y="427939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Recommendation Engine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5603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CURRENT PROGRESS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Progress Report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444752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44475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993392" y="14081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93392" y="16276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setup, README, branching strategy defined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434840" y="1527048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30363D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1527048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8485632" y="148132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956816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2029968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0299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993392" y="19933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UX Design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93392" y="22128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wireframes and high-fidelity mockups completed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434840" y="2112264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30363D"/>
          </a:solidFill>
          <a:ln/>
        </p:spPr>
      </p:sp>
      <p:sp>
        <p:nvSpPr>
          <p:cNvPr id="20" name="Shape 18"/>
          <p:cNvSpPr/>
          <p:nvPr/>
        </p:nvSpPr>
        <p:spPr>
          <a:xfrm>
            <a:off x="4434840" y="2112264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8485632" y="20665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542032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2615184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00D4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261518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993392" y="25786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Development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993392" y="27980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components; Tailwind styling in progress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434840" y="2697480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30363D"/>
          </a:solidFill>
          <a:ln/>
        </p:spPr>
      </p:sp>
      <p:sp>
        <p:nvSpPr>
          <p:cNvPr id="28" name="Shape 26"/>
          <p:cNvSpPr/>
          <p:nvPr/>
        </p:nvSpPr>
        <p:spPr>
          <a:xfrm>
            <a:off x="4434840" y="2647247"/>
            <a:ext cx="2414016" cy="164592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85632" y="26517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127248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3200400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00D4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2004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993392" y="31638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Modules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993392" y="33832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project initialized; REST API structure defined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34840" y="3282696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30363D"/>
          </a:solidFill>
          <a:ln/>
        </p:spPr>
      </p:sp>
      <p:sp>
        <p:nvSpPr>
          <p:cNvPr id="36" name="Shape 34"/>
          <p:cNvSpPr/>
          <p:nvPr/>
        </p:nvSpPr>
        <p:spPr>
          <a:xfrm>
            <a:off x="4434840" y="3282696"/>
            <a:ext cx="1207008" cy="164592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/>
        </p:spPr>
      </p:sp>
      <p:sp>
        <p:nvSpPr>
          <p:cNvPr id="37" name="Text 35"/>
          <p:cNvSpPr/>
          <p:nvPr/>
        </p:nvSpPr>
        <p:spPr>
          <a:xfrm>
            <a:off x="8485632" y="323697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712464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3785616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10B981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" y="378561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993392" y="374904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993392" y="39684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synopsis, SRS, and tech stack document prepared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434840" y="3867912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30363D"/>
          </a:solidFill>
          <a:ln/>
        </p:spPr>
      </p:sp>
      <p:sp>
        <p:nvSpPr>
          <p:cNvPr id="44" name="Shape 42"/>
          <p:cNvSpPr/>
          <p:nvPr/>
        </p:nvSpPr>
        <p:spPr>
          <a:xfrm>
            <a:off x="4434840" y="3867912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45" name="Text 43"/>
          <p:cNvSpPr/>
          <p:nvPr/>
        </p:nvSpPr>
        <p:spPr>
          <a:xfrm>
            <a:off x="8485632" y="382219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4297680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4360" y="4370832"/>
            <a:ext cx="1280160" cy="310896"/>
          </a:xfrm>
          <a:prstGeom prst="roundRect">
            <a:avLst>
              <a:gd name="adj" fmla="val 29412"/>
            </a:avLst>
          </a:prstGeom>
          <a:solidFill>
            <a:srgbClr val="4B5563"/>
          </a:solidFill>
          <a:ln/>
        </p:spPr>
      </p:sp>
      <p:sp>
        <p:nvSpPr>
          <p:cNvPr id="48" name="Text 46"/>
          <p:cNvSpPr/>
          <p:nvPr/>
        </p:nvSpPr>
        <p:spPr>
          <a:xfrm>
            <a:off x="594360" y="437083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993392" y="433425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Integration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993392" y="455371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integration planned after backend milestone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34840" y="4453128"/>
            <a:ext cx="4023360" cy="164592"/>
          </a:xfrm>
          <a:prstGeom prst="roundRect">
            <a:avLst>
              <a:gd name="adj" fmla="val 50000"/>
            </a:avLst>
          </a:prstGeom>
          <a:solidFill>
            <a:srgbClr val="30363D"/>
          </a:solidFill>
          <a:ln/>
        </p:spPr>
      </p:sp>
      <p:sp>
        <p:nvSpPr>
          <p:cNvPr id="52" name="Text 50"/>
          <p:cNvSpPr/>
          <p:nvPr/>
        </p:nvSpPr>
        <p:spPr>
          <a:xfrm>
            <a:off x="8485632" y="44074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0A0F1A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256032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2560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117"/>
                </a:solidFill>
              </a:rPr>
              <a:t>FUTURE &amp; CONCLUSION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5943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Plan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47472" y="1280160"/>
            <a:ext cx="256032" cy="256032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8" name="Shape 6"/>
          <p:cNvSpPr/>
          <p:nvPr/>
        </p:nvSpPr>
        <p:spPr>
          <a:xfrm>
            <a:off x="466344" y="1545336"/>
            <a:ext cx="0" cy="64008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252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13232" y="1463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backend modules &amp; REST APIs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1993392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" y="2258568"/>
            <a:ext cx="0" cy="64008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9385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13232" y="217627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Gemini AI &amp; LLM features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47472" y="2706624"/>
            <a:ext cx="256032" cy="25603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6" name="Shape 14"/>
          <p:cNvSpPr/>
          <p:nvPr/>
        </p:nvSpPr>
        <p:spPr>
          <a:xfrm>
            <a:off x="466344" y="2971800"/>
            <a:ext cx="0" cy="64008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26517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13232" y="288950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testing &amp; bug fixing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47472" y="3419856"/>
            <a:ext cx="256032" cy="25603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466344" y="3685032"/>
            <a:ext cx="0" cy="64008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3649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13232" y="360273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 cloud (AWS / Render)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7472" y="4133088"/>
            <a:ext cx="256032" cy="256032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407822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13232" y="43159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evaluation &amp; feedback collection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63440" y="5943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4572000" y="1207008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32120" y="1335024"/>
            <a:ext cx="2286000" cy="22860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0" y="1335024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6000" dirty="0"/>
          </a:p>
        </p:txBody>
      </p:sp>
      <p:sp>
        <p:nvSpPr>
          <p:cNvPr id="30" name="Shape 28"/>
          <p:cNvSpPr/>
          <p:nvPr/>
        </p:nvSpPr>
        <p:spPr>
          <a:xfrm>
            <a:off x="4736592" y="3712464"/>
            <a:ext cx="164592" cy="164592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31" name="Text 29"/>
          <p:cNvSpPr/>
          <p:nvPr/>
        </p:nvSpPr>
        <p:spPr>
          <a:xfrm>
            <a:off x="4974336" y="363016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the gap between academics and industry-readiness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36592" y="4096512"/>
            <a:ext cx="164592" cy="164592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33" name="Text 31"/>
          <p:cNvSpPr/>
          <p:nvPr/>
        </p:nvSpPr>
        <p:spPr>
          <a:xfrm>
            <a:off x="4974336" y="40142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platform replacing multiple scattered tools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36592" y="4480560"/>
            <a:ext cx="164592" cy="164592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35" name="Text 33"/>
          <p:cNvSpPr/>
          <p:nvPr/>
        </p:nvSpPr>
        <p:spPr>
          <a:xfrm>
            <a:off x="4974336" y="439826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personalization for each student's unique journey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65760" y="4645152"/>
            <a:ext cx="8412480" cy="347472"/>
          </a:xfrm>
          <a:prstGeom prst="roundRect">
            <a:avLst>
              <a:gd name="adj" fmla="val 31579"/>
            </a:avLst>
          </a:prstGeom>
          <a:solidFill>
            <a:srgbClr val="1A1A2E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6634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HireCraft AI — Your Intelligent Placement Mentor</a:t>
            </a:r>
            <a:endParaRPr lang="en-US" sz="1300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9A11BABF-3AF2-D949-BBC2-7827667EC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980" y="1362456"/>
            <a:ext cx="2240280" cy="2240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687</Words>
  <Application>Microsoft Office PowerPoint</Application>
  <PresentationFormat>On-screen Show (16:9)</PresentationFormat>
  <Paragraphs>205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 Suryakumar</cp:lastModifiedBy>
  <cp:revision>2</cp:revision>
  <dcterms:created xsi:type="dcterms:W3CDTF">2026-08-06T01:54:28Z</dcterms:created>
  <dcterms:modified xsi:type="dcterms:W3CDTF">2026-08-06T02:07:45Z</dcterms:modified>
</cp:coreProperties>
</file>